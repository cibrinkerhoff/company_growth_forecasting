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9"/>
  </p:notesMasterIdLst>
  <p:sldIdLst>
    <p:sldId id="2767" r:id="rId5"/>
    <p:sldId id="257" r:id="rId6"/>
    <p:sldId id="258" r:id="rId7"/>
    <p:sldId id="259" r:id="rId8"/>
    <p:sldId id="260" r:id="rId9"/>
    <p:sldId id="261" r:id="rId10"/>
    <p:sldId id="269" r:id="rId11"/>
    <p:sldId id="263" r:id="rId12"/>
    <p:sldId id="264" r:id="rId13"/>
    <p:sldId id="270" r:id="rId14"/>
    <p:sldId id="265" r:id="rId15"/>
    <p:sldId id="266" r:id="rId16"/>
    <p:sldId id="268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AF77A6-31C5-4844-9330-AEA780D53B8B}" v="7" dt="2026-03-11T17:22:16.3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5"/>
  </p:normalViewPr>
  <p:slideViewPr>
    <p:cSldViewPr snapToGrid="0">
      <p:cViewPr>
        <p:scale>
          <a:sx n="43" d="100"/>
          <a:sy n="43" d="100"/>
        </p:scale>
        <p:origin x="2222" y="7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Wilson" userId="d30e82ce5d04d96e" providerId="LiveId" clId="{D2507071-FEA3-4BC0-92A6-71207631F648}"/>
    <pc:docChg chg="undo custSel modSld">
      <pc:chgData name="Matthew Wilson" userId="d30e82ce5d04d96e" providerId="LiveId" clId="{D2507071-FEA3-4BC0-92A6-71207631F648}" dt="2026-03-11T17:22:17.067" v="455" actId="20577"/>
      <pc:docMkLst>
        <pc:docMk/>
      </pc:docMkLst>
      <pc:sldChg chg="modSp mod">
        <pc:chgData name="Matthew Wilson" userId="d30e82ce5d04d96e" providerId="LiveId" clId="{D2507071-FEA3-4BC0-92A6-71207631F648}" dt="2026-03-11T15:39:17.075" v="255" actId="20577"/>
        <pc:sldMkLst>
          <pc:docMk/>
          <pc:sldMk cId="4216523365" sldId="257"/>
        </pc:sldMkLst>
        <pc:spChg chg="mod">
          <ac:chgData name="Matthew Wilson" userId="d30e82ce5d04d96e" providerId="LiveId" clId="{D2507071-FEA3-4BC0-92A6-71207631F648}" dt="2026-03-11T15:39:17.075" v="255" actId="20577"/>
          <ac:spMkLst>
            <pc:docMk/>
            <pc:sldMk cId="4216523365" sldId="257"/>
            <ac:spMk id="3" creationId="{432C04E6-B771-F1FA-85F4-B7984DE55A8E}"/>
          </ac:spMkLst>
        </pc:spChg>
      </pc:sldChg>
      <pc:sldChg chg="modSp mod">
        <pc:chgData name="Matthew Wilson" userId="d30e82ce5d04d96e" providerId="LiveId" clId="{D2507071-FEA3-4BC0-92A6-71207631F648}" dt="2026-03-11T17:22:17.067" v="455" actId="20577"/>
        <pc:sldMkLst>
          <pc:docMk/>
          <pc:sldMk cId="1384372434" sldId="269"/>
        </pc:sldMkLst>
        <pc:graphicFrameChg chg="mod modGraphic">
          <ac:chgData name="Matthew Wilson" userId="d30e82ce5d04d96e" providerId="LiveId" clId="{D2507071-FEA3-4BC0-92A6-71207631F648}" dt="2026-03-11T17:22:17.067" v="455" actId="20577"/>
          <ac:graphicFrameMkLst>
            <pc:docMk/>
            <pc:sldMk cId="1384372434" sldId="269"/>
            <ac:graphicFrameMk id="6" creationId="{3E0E4A8A-55D4-88B9-EAFE-F5DD91417A46}"/>
          </ac:graphicFrameMkLst>
        </pc:graphicFrameChg>
      </pc:sldChg>
      <pc:sldChg chg="modSp mod">
        <pc:chgData name="Matthew Wilson" userId="d30e82ce5d04d96e" providerId="LiveId" clId="{D2507071-FEA3-4BC0-92A6-71207631F648}" dt="2026-03-11T15:37:21.762" v="72" actId="20577"/>
        <pc:sldMkLst>
          <pc:docMk/>
          <pc:sldMk cId="4182614578" sldId="2767"/>
        </pc:sldMkLst>
        <pc:spChg chg="mod">
          <ac:chgData name="Matthew Wilson" userId="d30e82ce5d04d96e" providerId="LiveId" clId="{D2507071-FEA3-4BC0-92A6-71207631F648}" dt="2026-03-11T15:37:21.762" v="72" actId="20577"/>
          <ac:spMkLst>
            <pc:docMk/>
            <pc:sldMk cId="4182614578" sldId="2767"/>
            <ac:spMk id="2" creationId="{900A38E9-D21E-DE68-38AC-F56AEA15B379}"/>
          </ac:spMkLst>
        </pc:spChg>
        <pc:spChg chg="mod">
          <ac:chgData name="Matthew Wilson" userId="d30e82ce5d04d96e" providerId="LiveId" clId="{D2507071-FEA3-4BC0-92A6-71207631F648}" dt="2026-03-11T15:37:13.546" v="56" actId="20577"/>
          <ac:spMkLst>
            <pc:docMk/>
            <pc:sldMk cId="4182614578" sldId="2767"/>
            <ac:spMk id="3" creationId="{7604D864-A6BD-C75F-9B88-BAB58775ABD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D05EE-1874-40CA-ACBB-AAFE8CEAEC56}" type="datetimeFigureOut">
              <a:t>3/11/2026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B9498-FDEE-4498-AC3A-C83DFCC8A50A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7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716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072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351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100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0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44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8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740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28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11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66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16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2286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2286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2286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2286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31313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164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317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397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60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222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98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8124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0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7602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172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395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1556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712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6097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362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94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866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144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862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114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654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95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326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74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1701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767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53613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453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8597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6902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46691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60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718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4005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34677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46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09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7" r:id="rId2"/>
    <p:sldLayoutId id="2147483740" r:id="rId3"/>
    <p:sldLayoutId id="2147483686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3" r:id="rId22"/>
    <p:sldLayoutId id="2147483714" r:id="rId23"/>
    <p:sldLayoutId id="2147483715" r:id="rId24"/>
    <p:sldLayoutId id="2147483716" r:id="rId25"/>
    <p:sldLayoutId id="2147483717" r:id="rId26"/>
    <p:sldLayoutId id="2147483718" r:id="rId27"/>
    <p:sldLayoutId id="2147483719" r:id="rId28"/>
    <p:sldLayoutId id="2147483720" r:id="rId29"/>
    <p:sldLayoutId id="2147483721" r:id="rId30"/>
    <p:sldLayoutId id="2147483722" r:id="rId31"/>
    <p:sldLayoutId id="2147483723" r:id="rId32"/>
    <p:sldLayoutId id="2147483724" r:id="rId33"/>
    <p:sldLayoutId id="2147483725" r:id="rId34"/>
    <p:sldLayoutId id="2147483726" r:id="rId35"/>
    <p:sldLayoutId id="2147483727" r:id="rId36"/>
    <p:sldLayoutId id="214748372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A38E9-D21E-DE68-38AC-F56AEA15B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rmAutofit/>
          </a:bodyPr>
          <a:lstStyle/>
          <a:p>
            <a:r>
              <a:rPr lang="en-US" dirty="0"/>
              <a:t>Forecasting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4D864-A6BD-C75F-9B88-BAB58775A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 anchor="t">
            <a:normAutofit/>
          </a:bodyPr>
          <a:lstStyle/>
          <a:p>
            <a:r>
              <a:rPr lang="en-US" dirty="0"/>
              <a:t>Matthew Wilson, Corbin Brinkerhoff, Matt Heaton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B60C5C2-A596-7FEB-7260-D4D75F7F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pPr lvl="0"/>
            <a:fld id="{A2C196D7-201A-4A3A-B9FA-EDBCED2083FF}" type="datetime1">
              <a:rPr lang="en-US" noProof="0" smtClean="0"/>
              <a:t>3/11/2026</a:t>
            </a:fld>
            <a:endParaRPr lang="en-US" noProof="0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93C2242-EDFC-CC39-97DF-2DB1D8D58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pPr lvl="0"/>
            <a:r>
              <a:rPr lang="en-US" noProof="0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247F861-42CF-FE05-F8FD-7EBB0D7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/>
          <a:lstStyle/>
          <a:p>
            <a:pPr lvl="0"/>
            <a:fld id="{84C450F2-3BB4-4AE4-8A35-A9D7AEA4C850}" type="slidenum">
              <a:rPr lang="en-US" noProof="0" smtClean="0"/>
              <a:pPr lvl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82614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Current Model</a:t>
            </a:r>
          </a:p>
          <a:p>
            <a:r>
              <a:rPr lang="en-US" dirty="0"/>
              <a:t>Potential Models</a:t>
            </a:r>
          </a:p>
          <a:p>
            <a:r>
              <a:rPr lang="en-US" dirty="0"/>
              <a:t>Comparing Models</a:t>
            </a:r>
          </a:p>
          <a:p>
            <a:r>
              <a:rPr lang="en-US" dirty="0"/>
              <a:t>Predictions for 2025</a:t>
            </a:r>
          </a:p>
          <a:p>
            <a:r>
              <a:rPr lang="en-US" dirty="0"/>
              <a:t>Growth Factors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602D5-209F-C183-95CC-735D34DC9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0712A-E8AC-4933-9DE4-16CA7BD5137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8326A-C836-F80E-4EAB-FB475085E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DC894-A40D-FD0D-CF41-FEE5AF09B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pic>
        <p:nvPicPr>
          <p:cNvPr id="6" name="Picture Placeholder 5" descr="Two people running on a beach">
            <a:extLst>
              <a:ext uri="{FF2B5EF4-FFF2-40B4-BE49-F238E27FC236}">
                <a16:creationId xmlns:a16="http://schemas.microsoft.com/office/drawing/2014/main" id="{F89F5A20-EE3C-FB44-E2F2-3404DD866E6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750040" cy="4724868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rmAutofit fontScale="92500"/>
          </a:bodyPr>
          <a:lstStyle/>
          <a:p>
            <a:r>
              <a:rPr lang="en-US" dirty="0"/>
              <a:t>When introducing yourself, keep it concise and relevant. </a:t>
            </a:r>
          </a:p>
          <a:p>
            <a:r>
              <a:rPr lang="en-US" dirty="0"/>
              <a:t>Start with a hook, state your expertise, and explain why you’re presenting.</a:t>
            </a:r>
          </a:p>
          <a:p>
            <a:r>
              <a:rPr lang="en-US" dirty="0"/>
              <a:t>If possible, keep your introduction to under 60 seconds to maintain interest.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6051-9A8D-AB51-EEFB-7677CCB2B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D37E-812B-468F-B489-3911FC6F672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0A6235-3D99-C9B4-4037-D7F62E83E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FC93-FE33-B17E-E50C-7ED72B63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133A0-1764-3DC0-A9D7-7733B04A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616" y="1524002"/>
            <a:ext cx="9198864" cy="2871216"/>
          </a:xfrm>
        </p:spPr>
        <p:txBody>
          <a:bodyPr/>
          <a:lstStyle/>
          <a:p>
            <a:r>
              <a:rPr lang="en-US" dirty="0"/>
              <a:t>“They may forget what you said, but they will never forget how you made them feel.”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6822A-D1D9-EA6C-D8F4-6F6AB9565D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99616" y="5376672"/>
            <a:ext cx="9198864" cy="466344"/>
          </a:xfrm>
        </p:spPr>
        <p:txBody>
          <a:bodyPr/>
          <a:lstStyle/>
          <a:p>
            <a:r>
              <a:rPr lang="en-US" dirty="0"/>
              <a:t>– Carl W. Buechner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20E4A-2DA7-367F-889E-11AF801A3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46E4F-8270-497D-A4DE-9B37A9C4BC1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0C200-7BBC-B1AA-6E27-4596490E6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7C8A9-3ADD-70A8-B9C7-245046BF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035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2F81C-2BD8-A4FA-1C47-752CDA281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/>
          <a:lstStyle/>
          <a:p>
            <a:r>
              <a:rPr lang="en-US" dirty="0"/>
              <a:t>Key elements of a memorable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53411-4585-040B-5834-42C4EFE762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>
            <a:normAutofit/>
          </a:bodyPr>
          <a:lstStyle/>
          <a:p>
            <a:r>
              <a:rPr lang="en-US" dirty="0"/>
              <a:t>Crafting an engaging, impactful, and professional 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E3DB6-9604-119A-147D-87313E70E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2E664-B024-4B15-A27C-3009EED3249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CA12B-9FEC-9EC2-45A2-67466ADBD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67AE3-F49B-E352-A529-8E3AAB9E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690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50E1-014E-2F32-5FE0-025C273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pic>
        <p:nvPicPr>
          <p:cNvPr id="6" name="Picture Placeholder 5" descr="A close-up of a wood grain">
            <a:extLst>
              <a:ext uri="{FF2B5EF4-FFF2-40B4-BE49-F238E27FC236}">
                <a16:creationId xmlns:a16="http://schemas.microsoft.com/office/drawing/2014/main" id="{503626A1-9E15-A048-4FD7-2D14DDE4162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70B6-B9DD-8293-E045-C9E0BE21FEB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/>
              <a:t>Make eye contact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It builds trust and keeps the audience focused. Successful presentations inform as well as captivate and good eye contact helps everyone stay engaged.</a:t>
            </a:r>
          </a:p>
          <a:p>
            <a:pPr marL="0" indent="0">
              <a:buNone/>
            </a:pPr>
            <a:r>
              <a:rPr lang="en-US" sz="1800" b="1" dirty="0"/>
              <a:t>Tell a story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Storytelling make messages stick. Use personal or industry-related stories. Try the “what, so what, now what” framework to structure your narrative.</a:t>
            </a:r>
          </a:p>
          <a:p>
            <a:pPr marL="0" indent="0">
              <a:buNone/>
            </a:pPr>
            <a:r>
              <a:rPr lang="en-US" sz="1800" b="1" dirty="0"/>
              <a:t>Make it interactive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Encourage interaction by asking questions, taking live polls, or inviting audience input. Use survey tools to collect real-time responses.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08E80-2392-A58F-EEB2-EE6337888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76D00-6106-43BB-8923-18C7A7C520E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4AA2F1-CC44-35CF-7A34-1B814A19A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FBC74-35D9-C062-A1B7-A5F83C6DD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D2400-94AD-31F6-37F1-0D939219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50A7-8097-B5C9-4E58-9ED8D14AD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Engagement data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E0E4A8A-55D4-88B9-EAFE-F5DD91417A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9283122"/>
              </p:ext>
            </p:extLst>
          </p:nvPr>
        </p:nvGraphicFramePr>
        <p:xfrm>
          <a:off x="521734" y="2325688"/>
          <a:ext cx="11148531" cy="2624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177">
                  <a:extLst>
                    <a:ext uri="{9D8B030D-6E8A-4147-A177-3AD203B41FA5}">
                      <a16:colId xmlns:a16="http://schemas.microsoft.com/office/drawing/2014/main" val="2236123262"/>
                    </a:ext>
                  </a:extLst>
                </a:gridCol>
                <a:gridCol w="3716177">
                  <a:extLst>
                    <a:ext uri="{9D8B030D-6E8A-4147-A177-3AD203B41FA5}">
                      <a16:colId xmlns:a16="http://schemas.microsoft.com/office/drawing/2014/main" val="583127937"/>
                    </a:ext>
                  </a:extLst>
                </a:gridCol>
                <a:gridCol w="3716177">
                  <a:extLst>
                    <a:ext uri="{9D8B030D-6E8A-4147-A177-3AD203B41FA5}">
                      <a16:colId xmlns:a16="http://schemas.microsoft.com/office/drawing/2014/main" val="3633622998"/>
                    </a:ext>
                  </a:extLst>
                </a:gridCol>
              </a:tblGrid>
              <a:tr h="656182">
                <a:tc>
                  <a:txBody>
                    <a:bodyPr/>
                    <a:lstStyle/>
                    <a:p>
                      <a:r>
                        <a:rPr lang="en-US" sz="1800" b="1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Test RMSE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2025 Prediction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1733978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Current (Linear)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0.621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8163444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Spline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0.454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465077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Prophet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0.136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6475176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61AE3-EE8B-D6AA-C542-739A07913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FA715D-0DE7-5C1E-A01B-3CC861FF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20D08B-C7CA-70C3-F459-4B8F8CFD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372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</a:t>
            </a:r>
            <a:r>
              <a:rPr lang="en-US"/>
              <a:t>visuals matter!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/>
              <a:t>Studies show that 35% of an audience’s retention rate is attributed to visuals, so use these best practices.</a:t>
            </a:r>
          </a:p>
          <a:p>
            <a:pPr marL="0" indent="0">
              <a:buNone/>
            </a:pPr>
            <a:r>
              <a:rPr lang="en-US" sz="1800" b="1" dirty="0"/>
              <a:t>Use high-quality images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Avoid stock photos that feel overused. Use animated images sparingly. Motion should enhance, not distract.</a:t>
            </a:r>
          </a:p>
          <a:p>
            <a:pPr marL="0" indent="0">
              <a:buNone/>
            </a:pPr>
            <a:r>
              <a:rPr lang="en-US" sz="1800" b="1" dirty="0"/>
              <a:t>Leverage infographics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Present complex data in an easy-to-digest format.</a:t>
            </a:r>
          </a:p>
          <a:p>
            <a:pPr marL="0" indent="0">
              <a:buNone/>
            </a:pPr>
            <a:r>
              <a:rPr lang="en-US" sz="1800" b="1" dirty="0"/>
              <a:t>Keep text minimal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Slides should support your speech, not replace it.</a:t>
            </a:r>
          </a:p>
          <a:p>
            <a:pPr marL="0" indent="0">
              <a:buNone/>
            </a:pPr>
            <a:r>
              <a:rPr lang="en-US" sz="1800" b="1" dirty="0"/>
              <a:t>Use brand colors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Maintain consistency in fonts and color palettes for professionalism.</a:t>
            </a:r>
          </a:p>
        </p:txBody>
      </p:sp>
      <p:pic>
        <p:nvPicPr>
          <p:cNvPr id="9" name="Picture Placeholder 8" descr="A group of wood blocks">
            <a:extLst>
              <a:ext uri="{FF2B5EF4-FFF2-40B4-BE49-F238E27FC236}">
                <a16:creationId xmlns:a16="http://schemas.microsoft.com/office/drawing/2014/main" id="{606BD1CA-C191-4496-8931-F725453418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205E06-DEAE-0DD1-4D36-DFAC6C72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A4445-5DD2-41DC-BDE3-6A90E266904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F804B-D6FC-83A9-36FC-E721C009E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FE3EB-673E-77EF-2980-BA6EC57A5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332A3-41ED-5C79-EEE4-FB0C4C503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35%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CD8EA-EA7C-8648-6703-261B5BAF00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of an audience’s retention rate is attributed to the visuals used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9EABE-3580-5671-50D4-25E706EDC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98514-CB2E-43FF-940B-F99B0EA9BFC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B29139-7FC6-888D-5CC9-C5B5E32F7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C91B8-8829-9453-E93E-4D286CFA0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01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6BA28-7B5B-3D59-0D23-C072A5C2A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/>
          <a:lstStyle/>
          <a:p>
            <a:r>
              <a:rPr lang="en-US" dirty="0"/>
              <a:t>Delivering with impact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43BCF-B6AE-B157-B5A8-60575A5F5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/>
          <a:lstStyle/>
          <a:p>
            <a:r>
              <a:rPr lang="en-US" dirty="0"/>
              <a:t>Keeping your audience engaged through effective techniques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9490C-0AC8-DB82-0D8F-BF8C4A553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EE0C6-06DB-432B-A080-77CD90ED512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A4C37-2120-C1F6-AF98-9C441568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62AC7-4EBD-6C7B-71E2-19F58FD8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730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pic>
        <p:nvPicPr>
          <p:cNvPr id="7" name="Picture Placeholder 6" descr="A close-up of a sand dune">
            <a:extLst>
              <a:ext uri="{FF2B5EF4-FFF2-40B4-BE49-F238E27FC236}">
                <a16:creationId xmlns:a16="http://schemas.microsoft.com/office/drawing/2014/main" id="{3C37CE0E-074A-209D-2D43-EC5FAC327C3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AD71A6-1036-A099-9BDF-27C11F75648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Your delivery can make or break your presentation. Focus on the following techniques.</a:t>
            </a:r>
          </a:p>
          <a:p>
            <a:pPr marL="0" indent="0">
              <a:buNone/>
            </a:pPr>
            <a:r>
              <a:rPr lang="en-US" sz="1800" b="1" dirty="0"/>
              <a:t>Voice modulation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Vary pitch, tone, and volume to emphasize key points. Pause strategically as silence builds anticipation.</a:t>
            </a:r>
          </a:p>
          <a:p>
            <a:pPr marL="0" indent="0">
              <a:buNone/>
            </a:pPr>
            <a:r>
              <a:rPr lang="en-US" sz="1800" b="1" dirty="0"/>
              <a:t>Body language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Maintain open gestures and avoid crossing your arms. Move naturally. Step forward when making a strong point.</a:t>
            </a:r>
          </a:p>
          <a:p>
            <a:pPr marL="0" indent="0">
              <a:buNone/>
            </a:pPr>
            <a:r>
              <a:rPr lang="en-US" sz="1800" b="1" dirty="0"/>
              <a:t>Non-verbal cues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Look for cues (like nodding and note-taking) that show that your audience is engaged.</a:t>
            </a:r>
          </a:p>
          <a:p>
            <a:pPr marL="0" indent="0">
              <a:buNone/>
            </a:pPr>
            <a:r>
              <a:rPr lang="en-US" sz="1800" b="1" dirty="0"/>
              <a:t>Additional tips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Be confident, rehearse aloud, and show enthusiasm.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C179B-16F5-B0EA-D1AC-994412131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0F5D8-D5B8-4089-B8CF-3C65B488B2D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1DF91-6465-ADEF-7133-CCC328584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032F8-92FC-BD1A-A9AF-986FE04CF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97B4E-3C70-7F36-A4BF-7CA5CBC8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dirty="0"/>
              <a:t>Delivering with confidence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7E922-AE57-EC70-406A-77ED03351F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3464" y="1596767"/>
            <a:ext cx="9537192" cy="414223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Meaningful eye contact, purposeful gestures, and good posture can enhance your message and make it more memorable.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41BF0-B686-A29F-997F-508B02524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5E90F-DD16-4D07-98B2-5ADD02240C4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50EF4-0955-7408-3882-4FDCAF3F6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43CCF-A463-89C5-41C7-D943D6977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552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2F8EAF-D9DE-9FD3-ED83-7032E7D7F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A6679F-0290-515C-BB0F-947C10AC81E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/>
          <a:lstStyle/>
          <a:p>
            <a:r>
              <a:rPr lang="en-US" dirty="0"/>
              <a:t>Start with a hook and a clear purpose. Engage your audience using eye contact, storytelling, and questions. Design slides that enhance your message, not distract. And deliver with confidence.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B6F15B-92C0-806D-7631-A3635A42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9AFF9-B37A-4509-BBAB-27DBFDFA26B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3DC08D-8457-0839-8C25-A7C068F93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D8A57-68C7-1BAD-CE79-017C9801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058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209B1-CECE-7466-7044-9D73619E5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6681B-5E1B-BD2B-6960-3B46EFE83A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/>
          <a:lstStyle/>
          <a:p>
            <a:r>
              <a:rPr lang="en-US" dirty="0"/>
              <a:t>Use this portion of your presentation to answer audience questions.</a:t>
            </a:r>
          </a:p>
        </p:txBody>
      </p:sp>
      <p:pic>
        <p:nvPicPr>
          <p:cNvPr id="15" name="Picture Placeholder 14" descr="A close-up of a desert">
            <a:extLst>
              <a:ext uri="{FF2B5EF4-FFF2-40B4-BE49-F238E27FC236}">
                <a16:creationId xmlns:a16="http://schemas.microsoft.com/office/drawing/2014/main" id="{A52016E5-43C0-59E9-C7D5-5F2E24721B8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733150" cy="513580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47696-CC61-C5A5-6C0C-BC554FB64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170B-54FF-401A-804E-64B53FFEC9A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C9FFD-93B6-D3DC-72EF-DBAF2803A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738C8-C838-438B-F934-0218EC26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9686948"/>
      </p:ext>
    </p:extLst>
  </p:cSld>
  <p:clrMapOvr>
    <a:masterClrMapping/>
  </p:clrMapOvr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3667383-B7F3-43FC-8965-135FDDEABCC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2135656-72CC-4564-823F-B30D029964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D6282DC-5D67-4C19-9A05-C65D9BF7BC7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{1A1AD447-B616-4D51-A7CE-ABB3287E45E4}05f950ec-c865-457c-93ae-9eb2ef1c603f-TFa19fa653-f273-4169-96ef-448bb1cd1027_win32</Template>
  <TotalTime>106</TotalTime>
  <Words>556</Words>
  <Application>Microsoft Office PowerPoint</Application>
  <PresentationFormat>Widescreen</PresentationFormat>
  <Paragraphs>110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Neue Haas Grotesk Text Pro</vt:lpstr>
      <vt:lpstr>OasisVTI</vt:lpstr>
      <vt:lpstr>Forecasting 2025</vt:lpstr>
      <vt:lpstr>Agenda</vt:lpstr>
      <vt:lpstr>Introduction</vt:lpstr>
      <vt:lpstr>“They may forget what you said, but they will never forget how you made them feel.”</vt:lpstr>
      <vt:lpstr>Key elements of a memorable presentation</vt:lpstr>
      <vt:lpstr>Engaging the audience</vt:lpstr>
      <vt:lpstr>Engagement data</vt:lpstr>
      <vt:lpstr>Why visuals matter!</vt:lpstr>
      <vt:lpstr>35%</vt:lpstr>
      <vt:lpstr>Delivering with impact</vt:lpstr>
      <vt:lpstr>Effective delivery techniques</vt:lpstr>
      <vt:lpstr>Delivering with confidence </vt:lpstr>
      <vt:lpstr>Conclusion 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Corbin Brinkerhoff</dc:creator>
  <cp:lastModifiedBy>Corbin Brinkerhoff</cp:lastModifiedBy>
  <cp:revision>2</cp:revision>
  <dcterms:created xsi:type="dcterms:W3CDTF">2026-03-02T16:20:49Z</dcterms:created>
  <dcterms:modified xsi:type="dcterms:W3CDTF">2026-03-11T17:30:09Z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