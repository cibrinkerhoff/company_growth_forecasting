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9"/>
  </p:notesMasterIdLst>
  <p:sldIdLst>
    <p:sldId id="2767" r:id="rId5"/>
    <p:sldId id="257" r:id="rId6"/>
    <p:sldId id="258" r:id="rId7"/>
    <p:sldId id="259" r:id="rId8"/>
    <p:sldId id="260" r:id="rId9"/>
    <p:sldId id="261" r:id="rId10"/>
    <p:sldId id="269" r:id="rId11"/>
    <p:sldId id="263" r:id="rId12"/>
    <p:sldId id="264" r:id="rId13"/>
    <p:sldId id="270" r:id="rId14"/>
    <p:sldId id="265" r:id="rId15"/>
    <p:sldId id="266" r:id="rId16"/>
    <p:sldId id="26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5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3/2/2026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rmAutofit/>
          </a:bodyPr>
          <a:lstStyle/>
          <a:p>
            <a:r>
              <a:rPr lang="en-US" dirty="0"/>
              <a:t>BASIC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 anchor="t">
            <a:normAutofit/>
          </a:bodyPr>
          <a:lstStyle/>
          <a:p>
            <a:r>
              <a:rPr lang="en-US" dirty="0"/>
              <a:t>Presented by Ares Grau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pPr lvl="0"/>
            <a:fld id="{A2C196D7-201A-4A3A-B9FA-EDBCED2083FF}" type="datetime1">
              <a:rPr lang="en-US" noProof="0" smtClean="0"/>
              <a:t>3/2/2026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 lvl="0"/>
            <a:r>
              <a:rPr lang="en-US" noProof="0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Introducing yourself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appeal</a:t>
            </a:r>
          </a:p>
          <a:p>
            <a:r>
              <a:rPr lang="en-US" dirty="0"/>
              <a:t>Effective delivery techniques</a:t>
            </a:r>
          </a:p>
          <a:p>
            <a:r>
              <a:rPr lang="en-US" dirty="0"/>
              <a:t>Q&amp;A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326A-C836-F80E-4EAB-FB475085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6" name="Picture Placeholder 5" descr="Two people running on a beach">
            <a:extLst>
              <a:ext uri="{FF2B5EF4-FFF2-40B4-BE49-F238E27FC236}">
                <a16:creationId xmlns:a16="http://schemas.microsoft.com/office/drawing/2014/main" id="{F89F5A20-EE3C-FB44-E2F2-3404DD866E6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750040" cy="472486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 fontScale="92500"/>
          </a:bodyPr>
          <a:lstStyle/>
          <a:p>
            <a:r>
              <a:rPr lang="en-US" dirty="0"/>
              <a:t>When introducing yourself, keep it concise and relevant. </a:t>
            </a:r>
          </a:p>
          <a:p>
            <a:r>
              <a:rPr lang="en-US" dirty="0"/>
              <a:t>Start with a hook, state your expertise, and explain why you’re presenting.</a:t>
            </a:r>
          </a:p>
          <a:p>
            <a:r>
              <a:rPr lang="en-US" dirty="0"/>
              <a:t>If possible, keep your introduction to under 60 seconds to maintain interest.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6051-9A8D-AB51-EEFB-7677CCB2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D37E-812B-468F-B489-3911FC6F6723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6235-3D99-C9B4-4037-D7F62E83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FC93-FE33-B17E-E50C-7ED72B6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524002"/>
            <a:ext cx="9198864" cy="2871216"/>
          </a:xfrm>
        </p:spPr>
        <p:txBody>
          <a:bodyPr/>
          <a:lstStyle/>
          <a:p>
            <a:r>
              <a:rPr lang="en-US" dirty="0"/>
              <a:t>“They may forget what you said, but they will never forget how you made them feel.”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6822A-D1D9-EA6C-D8F4-6F6AB9565D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9616" y="5376672"/>
            <a:ext cx="9198864" cy="466344"/>
          </a:xfrm>
        </p:spPr>
        <p:txBody>
          <a:bodyPr/>
          <a:lstStyle/>
          <a:p>
            <a:r>
              <a:rPr lang="en-US" dirty="0"/>
              <a:t>– Carl W. Buechner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20E4A-2DA7-367F-889E-11AF801A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6E4F-8270-497D-A4DE-9B37A9C4BC18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0C200-7BBC-B1AA-6E27-4596490E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/>
          <a:lstStyle/>
          <a:p>
            <a:r>
              <a:rPr lang="en-US" dirty="0"/>
              <a:t>Key elements of a memorable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53411-4585-040B-5834-42C4EFE76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>
            <a:normAutofit/>
          </a:bodyPr>
          <a:lstStyle/>
          <a:p>
            <a:r>
              <a:rPr lang="en-US" dirty="0"/>
              <a:t>Crafting an engaging, impactful, and professional presentation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A12B-9FEC-9EC2-45A2-67466ADB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6" name="Picture Placeholder 5" descr="A close-up of a wood grain">
            <a:extLst>
              <a:ext uri="{FF2B5EF4-FFF2-40B4-BE49-F238E27FC236}">
                <a16:creationId xmlns:a16="http://schemas.microsoft.com/office/drawing/2014/main" id="{503626A1-9E15-A048-4FD7-2D14DDE4162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Make eye contact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It builds trust and keeps the audience focused. Successful presentations inform as well as captivate and good eye contact helps everyone stay engaged.</a:t>
            </a:r>
          </a:p>
          <a:p>
            <a:pPr marL="0" indent="0">
              <a:buNone/>
            </a:pPr>
            <a:r>
              <a:rPr lang="en-US" sz="1800" b="1" dirty="0"/>
              <a:t>Tell a story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Storytelling make messages stick. Use personal or industry-related stories. Try the “what, so what, now what” framework to structure your narrative.</a:t>
            </a:r>
          </a:p>
          <a:p>
            <a:pPr marL="0" indent="0">
              <a:buNone/>
            </a:pPr>
            <a:r>
              <a:rPr lang="en-US" sz="1800" b="1" dirty="0"/>
              <a:t>Make it interactive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Encourage interaction by asking questions, taking live polls, or inviting audience input. Use survey tools to collect real-time responses.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8E80-2392-A58F-EEB2-EE633788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76D00-6106-43BB-8923-18C7A7C520E4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AA2F1-CC44-35CF-7A34-1B814A19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Engagement data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0E4A8A-55D4-88B9-EAFE-F5DD91417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19903"/>
              </p:ext>
            </p:extLst>
          </p:nvPr>
        </p:nvGraphicFramePr>
        <p:xfrm>
          <a:off x="431173" y="1716088"/>
          <a:ext cx="11148531" cy="4593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6177">
                  <a:extLst>
                    <a:ext uri="{9D8B030D-6E8A-4147-A177-3AD203B41FA5}">
                      <a16:colId xmlns:a16="http://schemas.microsoft.com/office/drawing/2014/main" val="2236123262"/>
                    </a:ext>
                  </a:extLst>
                </a:gridCol>
                <a:gridCol w="3716177">
                  <a:extLst>
                    <a:ext uri="{9D8B030D-6E8A-4147-A177-3AD203B41FA5}">
                      <a16:colId xmlns:a16="http://schemas.microsoft.com/office/drawing/2014/main" val="583127937"/>
                    </a:ext>
                  </a:extLst>
                </a:gridCol>
                <a:gridCol w="3716177">
                  <a:extLst>
                    <a:ext uri="{9D8B030D-6E8A-4147-A177-3AD203B41FA5}">
                      <a16:colId xmlns:a16="http://schemas.microsoft.com/office/drawing/2014/main" val="3633622998"/>
                    </a:ext>
                  </a:extLst>
                </a:gridCol>
              </a:tblGrid>
              <a:tr h="656182">
                <a:tc>
                  <a:txBody>
                    <a:bodyPr/>
                    <a:lstStyle/>
                    <a:p>
                      <a:r>
                        <a:rPr lang="en-US" sz="1800" b="1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Impact on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33978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Eye contact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80% more audience connection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Business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63444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Storytelling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Increases retention by 22x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University study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465077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Interactive polls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Leads to 34% higher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LinkedIn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475176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Visual aids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Boosts retention by 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Company research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271249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Attention spans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Lasts about 5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Journal article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049109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First impressions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Made in the first 15 seconds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Industry report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033052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61AE3-EE8B-D6AA-C542-739A0791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5C81-4B4A-4C1A-B255-174CB9D3D2AE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A715D-0DE7-5C1E-A01B-3CC861FF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D08B-C7CA-70C3-F459-4B8F8CFD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visuals matter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Studies show that 35% of an audience’s retention rate is attributed to visuals, so use these best practices.</a:t>
            </a:r>
          </a:p>
          <a:p>
            <a:pPr marL="0" indent="0">
              <a:buNone/>
            </a:pPr>
            <a:r>
              <a:rPr lang="en-US" sz="1800" b="1" dirty="0"/>
              <a:t>Use high-quality images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Avoid stock photos that feel overused. Use animated images sparingly. Motion should enhance, not distract.</a:t>
            </a:r>
          </a:p>
          <a:p>
            <a:pPr marL="0" indent="0">
              <a:buNone/>
            </a:pPr>
            <a:r>
              <a:rPr lang="en-US" sz="1800" b="1" dirty="0"/>
              <a:t>Leverage infographics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Present complex data in an easy-to-digest format.</a:t>
            </a:r>
          </a:p>
          <a:p>
            <a:pPr marL="0" indent="0">
              <a:buNone/>
            </a:pPr>
            <a:r>
              <a:rPr lang="en-US" sz="1800" b="1" dirty="0"/>
              <a:t>Keep text minimal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Slides should support your speech, not replace it.</a:t>
            </a:r>
          </a:p>
          <a:p>
            <a:pPr marL="0" indent="0">
              <a:buNone/>
            </a:pPr>
            <a:r>
              <a:rPr lang="en-US" sz="1800" b="1" dirty="0"/>
              <a:t>Use brand colors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Maintain consistency in fonts and color palettes for professionalism.</a:t>
            </a:r>
          </a:p>
        </p:txBody>
      </p:sp>
      <p:pic>
        <p:nvPicPr>
          <p:cNvPr id="9" name="Picture Placeholder 8" descr="A group of wood blocks">
            <a:extLst>
              <a:ext uri="{FF2B5EF4-FFF2-40B4-BE49-F238E27FC236}">
                <a16:creationId xmlns:a16="http://schemas.microsoft.com/office/drawing/2014/main" id="{606BD1CA-C191-4496-8931-F725453418B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05E06-DEAE-0DD1-4D36-DFAC6C7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4445-5DD2-41DC-BDE3-6A90E266904E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F804B-D6FC-83A9-36FC-E721C009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32A3-41ED-5C79-EEE4-FB0C4C50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35%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CD8EA-EA7C-8648-6703-261B5BAF00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of an audience’s retention rate is attributed to the visuals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EABE-3580-5671-50D4-25E706ED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8514-CB2E-43FF-940B-F99B0EA9BFC0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29139-7FC6-888D-5CC9-C5B5E32F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91B8-8829-9453-E93E-4D286CF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/>
          <a:lstStyle/>
          <a:p>
            <a:r>
              <a:rPr lang="en-US" dirty="0"/>
              <a:t>Delivering with 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3BCF-B6AE-B157-B5A8-60575A5F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/>
          <a:lstStyle/>
          <a:p>
            <a:r>
              <a:rPr lang="en-US" dirty="0"/>
              <a:t>Keeping your audience engaged through effective techniques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490C-0AC8-DB82-0D8F-BF8C4A55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E0C6-06DB-432B-A080-77CD90ED5127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A4C37-2120-C1F6-AF98-9C441568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AC7-4EBD-6C7B-71E2-19F58FD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pic>
        <p:nvPicPr>
          <p:cNvPr id="7" name="Picture Placeholder 6" descr="A close-up of a sand dune">
            <a:extLst>
              <a:ext uri="{FF2B5EF4-FFF2-40B4-BE49-F238E27FC236}">
                <a16:creationId xmlns:a16="http://schemas.microsoft.com/office/drawing/2014/main" id="{3C37CE0E-074A-209D-2D43-EC5FAC327C3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Your delivery can make or break your presentation. Focus on the following techniques.</a:t>
            </a:r>
          </a:p>
          <a:p>
            <a:pPr marL="0" indent="0">
              <a:buNone/>
            </a:pPr>
            <a:r>
              <a:rPr lang="en-US" sz="1800" b="1" dirty="0"/>
              <a:t>Voice modulation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Vary pitch, tone, and volume to emphasize key points. Pause strategically as silence builds anticipation.</a:t>
            </a:r>
          </a:p>
          <a:p>
            <a:pPr marL="0" indent="0">
              <a:buNone/>
            </a:pPr>
            <a:r>
              <a:rPr lang="en-US" sz="1800" b="1" dirty="0"/>
              <a:t>Body language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Maintain open gestures and avoid crossing your arms. Move naturally. Step forward when making a strong point.</a:t>
            </a:r>
          </a:p>
          <a:p>
            <a:pPr marL="0" indent="0">
              <a:buNone/>
            </a:pPr>
            <a:r>
              <a:rPr lang="en-US" sz="1800" b="1" dirty="0"/>
              <a:t>Non-verbal cues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Look for cues (like nodding and note-taking) that show that your audience is engaged.</a:t>
            </a:r>
          </a:p>
          <a:p>
            <a:pPr marL="0" indent="0">
              <a:buNone/>
            </a:pPr>
            <a:r>
              <a:rPr lang="en-US" sz="1800" b="1" dirty="0"/>
              <a:t>Additional tips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Be confident, rehearse aloud, and show enthusiasm.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179B-16F5-B0EA-D1AC-99441213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F5D8-D5B8-4089-B8CF-3C65B488B2D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DF91-6465-ADEF-7133-CCC32858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32F8-92FC-BD1A-A9AF-986FE04C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dirty="0"/>
              <a:t>Delivering with confidence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3464" y="1596767"/>
            <a:ext cx="9537192" cy="414223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Meaningful eye contact, purposeful gestures, and good posture can enhance your message and make it more memorable.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41BF0-B686-A29F-997F-508B0252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5E90F-DD16-4D07-98B2-5ADD02240C4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0EF4-0955-7408-3882-4FDCAF3F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43CCF-A463-89C5-41C7-D943D69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6679F-0290-515C-BB0F-947C10AC81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/>
          <a:lstStyle/>
          <a:p>
            <a:r>
              <a:rPr lang="en-US" dirty="0"/>
              <a:t>Start with a hook and a clear purpose. Engage your audience using eye contact, storytelling, and questions. Design slides that enhance your message, not distract. And deliver with confidence.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6F15B-92C0-806D-7631-A3635A42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9AFF9-B37A-4509-BBAB-27DBFDFA26BE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DC08D-8457-0839-8C25-A7C068F9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09B1-CECE-7466-7044-9D73619E5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6681B-5E1B-BD2B-6960-3B46EFE8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/>
          <a:lstStyle/>
          <a:p>
            <a:r>
              <a:rPr lang="en-US" dirty="0"/>
              <a:t>Use this portion of your presentation to answer audience questions.</a:t>
            </a:r>
          </a:p>
        </p:txBody>
      </p:sp>
      <p:pic>
        <p:nvPicPr>
          <p:cNvPr id="15" name="Picture Placeholder 14" descr="A close-up of a desert">
            <a:extLst>
              <a:ext uri="{FF2B5EF4-FFF2-40B4-BE49-F238E27FC236}">
                <a16:creationId xmlns:a16="http://schemas.microsoft.com/office/drawing/2014/main" id="{A52016E5-43C0-59E9-C7D5-5F2E24721B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733150" cy="513580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47696-CC61-C5A5-6C0C-BC554FB64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70B-54FF-401A-804E-64B53FFEC9A3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C9FFD-93B6-D3DC-72EF-DBAF2803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8C8-C838-438B-F934-0218EC26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{1A1AD447-B616-4D51-A7CE-ABB3287E45E4}05f950ec-c865-457c-93ae-9eb2ef1c603f-TFa19fa653-f273-4169-96ef-448bb1cd1027_win32</Template>
  <TotalTime>1</TotalTime>
  <Words>590</Words>
  <Application>Microsoft Office PowerPoint</Application>
  <PresentationFormat>Widescreen</PresentationFormat>
  <Paragraphs>119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Neue Haas Grotesk Text Pro</vt:lpstr>
      <vt:lpstr>OasisVTI</vt:lpstr>
      <vt:lpstr>BASIC PRESENTATION</vt:lpstr>
      <vt:lpstr>Agenda</vt:lpstr>
      <vt:lpstr>Introduction</vt:lpstr>
      <vt:lpstr>“They may forget what you said, but they will never forget how you made them feel.”</vt:lpstr>
      <vt:lpstr>Key elements of a memorable presentation</vt:lpstr>
      <vt:lpstr>Engaging the audience</vt:lpstr>
      <vt:lpstr>Engagement data</vt:lpstr>
      <vt:lpstr>Why visuals matter</vt:lpstr>
      <vt:lpstr>35%</vt:lpstr>
      <vt:lpstr>Delivering with impact</vt:lpstr>
      <vt:lpstr>Effective delivery techniques</vt:lpstr>
      <vt:lpstr>Delivering with confidence </vt:lpstr>
      <vt:lpstr>Conclusion 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Corbin Brinkerhoff</dc:creator>
  <cp:lastModifiedBy>Corbin Brinkerhoff</cp:lastModifiedBy>
  <cp:revision>1</cp:revision>
  <dcterms:created xsi:type="dcterms:W3CDTF">2026-03-02T16:20:49Z</dcterms:created>
  <dcterms:modified xsi:type="dcterms:W3CDTF">2026-03-02T16:22:06Z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